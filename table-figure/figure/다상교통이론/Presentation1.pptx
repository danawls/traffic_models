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048D1-CDEF-46CF-B811-8549FEC62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B443C-CFCB-44DE-B0BE-FEBC06281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8AAA9-9DE2-4C57-B160-C4A67282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FB569-0415-4FE1-9C6C-62A07176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185E2-6FC0-4A74-8D9E-8BE4733C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62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C937-20AC-4861-8A2B-5706F477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68437-13E5-433B-81AC-F12BF9DE8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80EF5-F656-4143-89AD-61516B94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11237-6518-4DD3-94DD-4A190AD1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05999-A619-4DEE-BAA0-9E9063DB4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378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44A8-1E8C-4BD5-85C9-47E3A9C6A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DA716-12BD-4BDD-B48E-6567548C5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101A3-E3DF-4C66-A630-DA6971453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E24CB-F25B-4B48-9C6B-32EA5C81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154FC-7727-450B-9DA4-04426E7F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908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61A0-286F-4DAA-8F3E-47D5FB1F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404C6-B4E6-4596-81B3-BA0535BE9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2BA1E-426C-4C70-AFD3-67F5475DE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F5561-F7FC-41A3-AA2C-C229CAAA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20E7B-9DD0-4BDF-A454-D38F562C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2110A-0F20-4C64-91D4-C868797D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66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73F98-4742-4100-ACA4-95EE6125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FBE21-2F39-4153-80B9-897184809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C915D-E235-4F45-8D6D-CAAFFA100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A3A23-5C40-4F40-AE76-5746BE0CC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E5627-C145-4C9F-BD1A-937BF17B5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6932DF-25E0-4B94-B873-D036EFEB0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B647F-4807-4205-AFD9-09ACFEFE6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883BE3-BAEF-4A7C-80A8-520C5C43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91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1C0E-0BF2-46A2-AF31-515E4DFF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F3221-519C-4E18-8530-8CF6B304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DBDB5A-F853-4E97-A0DC-E59F0E881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41A9E-5A42-4FFE-982F-473BC554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1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31394C-5038-4213-B955-3B30CE578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17FDA8-C8DE-488C-A4AA-6B0C096A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CFDFE-7621-431C-9C19-78425118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923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8C78-4297-4B9A-8494-008014963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6AC5D-24E1-4333-AC0F-65C0FC424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C8924-50B2-48CF-B32F-7980B8C79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98B94-456D-42EF-8897-AEC7C090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C93F4-EF71-4B28-B2B2-B94C95F7E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43FF1-F8A8-46BB-A858-9D4341E93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59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011A-D9BD-4743-B220-D61DB7258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8BFE09-F569-4E41-9F07-1F5E6D4BD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BBA6F-D4BA-4D94-9DA3-5C802DFFE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2F026-0A2A-45A2-B977-108D28D5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6930D-0FB5-4A32-9D87-2279DCC9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F73F6-5983-4554-A77A-944704894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28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5309-899D-497E-826D-5AA869CC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8B0C6-68ED-425F-8053-69902DE64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7768F-7499-4A9D-8696-97A1D000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D590B-5A7B-4425-977D-CD1174C77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F2CA-5A9B-40D6-9B33-0EA7A03F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13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BEBDE-E4A7-4C47-9653-AD4E546C0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0780F-E607-421D-A7B7-391D7809B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0A42E-768B-40EB-8D31-DF847985D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666F-D756-442E-9128-3A0F3B984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63F2F-4F56-40C4-87F4-0691B37B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02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A4C83-4B60-4E5E-BF22-3A0694D9D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5CF08-F1C2-4696-8BFE-1503BB947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64369-5E73-4FA6-BF99-FD5743009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F34B2-D48D-4026-9839-9F81872FD34A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985C-665F-42E9-B8AB-90BDACD2C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639A4-3F81-4108-9402-FD08ECE90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E7582-9356-421B-8C2B-91F7B0E83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29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4C6C790-1C39-412D-B599-4E54592C3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23" y="372476"/>
            <a:ext cx="2354235" cy="161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91642C-8C88-4D5B-AE37-35F1C4BE29A9}"/>
              </a:ext>
            </a:extLst>
          </p:cNvPr>
          <p:cNvSpPr/>
          <p:nvPr/>
        </p:nvSpPr>
        <p:spPr>
          <a:xfrm>
            <a:off x="3657600" y="610985"/>
            <a:ext cx="1853739" cy="11388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r>
              <a:rPr lang="ko-KR" altLang="en-US" dirty="0"/>
              <a:t>상 교통 상태 변수 설계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21A081-D3F1-4361-A115-6CC95A6F98FF}"/>
              </a:ext>
            </a:extLst>
          </p:cNvPr>
          <p:cNvSpPr/>
          <p:nvPr/>
        </p:nvSpPr>
        <p:spPr>
          <a:xfrm>
            <a:off x="768927" y="2556164"/>
            <a:ext cx="1920240" cy="87283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전이 확률 행렬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62F517-9C4D-4DF6-B2F7-AB5D03496319}"/>
              </a:ext>
            </a:extLst>
          </p:cNvPr>
          <p:cNvSpPr/>
          <p:nvPr/>
        </p:nvSpPr>
        <p:spPr>
          <a:xfrm>
            <a:off x="3144982" y="2556164"/>
            <a:ext cx="1920240" cy="87283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영향 행렬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281B62-C843-4EFC-8B79-D8476EC2A8B5}"/>
              </a:ext>
            </a:extLst>
          </p:cNvPr>
          <p:cNvSpPr/>
          <p:nvPr/>
        </p:nvSpPr>
        <p:spPr>
          <a:xfrm>
            <a:off x="5511339" y="2556164"/>
            <a:ext cx="1920240" cy="87283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전이 영향 행렬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CCB2CB8-E59E-4019-A47E-2042BD3A0EE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2753591" y="725285"/>
            <a:ext cx="806336" cy="285542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E6184CA9-4441-457A-AF40-D3E717709B16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5400000">
            <a:off x="3941618" y="1913312"/>
            <a:ext cx="806336" cy="4793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771726CF-3CFE-4DC3-BF52-BF4399BC6C18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16200000" flipH="1">
            <a:off x="5124796" y="1209501"/>
            <a:ext cx="806336" cy="188698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CC72FD3-FD60-45F1-9785-05CAF1A32A30}"/>
              </a:ext>
            </a:extLst>
          </p:cNvPr>
          <p:cNvSpPr/>
          <p:nvPr/>
        </p:nvSpPr>
        <p:spPr>
          <a:xfrm>
            <a:off x="1695796" y="4829694"/>
            <a:ext cx="3990109" cy="11720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GRU</a:t>
            </a:r>
            <a:r>
              <a:rPr lang="ko-KR" altLang="en-US" dirty="0"/>
              <a:t>에 적용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D66424CA-CA7D-4FAE-891C-046C4E92A143}"/>
              </a:ext>
            </a:extLst>
          </p:cNvPr>
          <p:cNvCxnSpPr>
            <a:stCxn id="5" idx="2"/>
            <a:endCxn id="15" idx="0"/>
          </p:cNvCxnSpPr>
          <p:nvPr/>
        </p:nvCxnSpPr>
        <p:spPr>
          <a:xfrm rot="16200000" flipH="1">
            <a:off x="2009602" y="3148445"/>
            <a:ext cx="1400694" cy="196180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352ADD28-F10B-4991-8088-9DAEE0FD3ED3}"/>
              </a:ext>
            </a:extLst>
          </p:cNvPr>
          <p:cNvCxnSpPr>
            <a:stCxn id="7" idx="2"/>
            <a:endCxn id="15" idx="0"/>
          </p:cNvCxnSpPr>
          <p:nvPr/>
        </p:nvCxnSpPr>
        <p:spPr>
          <a:xfrm rot="5400000">
            <a:off x="3197630" y="3922222"/>
            <a:ext cx="1400694" cy="41425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861D3133-A066-4FC9-97A3-7EDB7C325828}"/>
              </a:ext>
            </a:extLst>
          </p:cNvPr>
          <p:cNvCxnSpPr>
            <a:stCxn id="8" idx="2"/>
            <a:endCxn id="15" idx="0"/>
          </p:cNvCxnSpPr>
          <p:nvPr/>
        </p:nvCxnSpPr>
        <p:spPr>
          <a:xfrm rot="5400000">
            <a:off x="4380808" y="2739043"/>
            <a:ext cx="1400694" cy="278060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7A001E8B-EC30-42F8-8559-11D672E2FC27}"/>
              </a:ext>
            </a:extLst>
          </p:cNvPr>
          <p:cNvCxnSpPr>
            <a:cxnSpLocks/>
            <a:stCxn id="15" idx="7"/>
            <a:endCxn id="15" idx="5"/>
          </p:cNvCxnSpPr>
          <p:nvPr/>
        </p:nvCxnSpPr>
        <p:spPr>
          <a:xfrm rot="16200000" flipH="1">
            <a:off x="4687168" y="5415741"/>
            <a:ext cx="828797" cy="12700"/>
          </a:xfrm>
          <a:prstGeom prst="curvedConnector5">
            <a:avLst>
              <a:gd name="adj1" fmla="val -27582"/>
              <a:gd name="adj2" fmla="val 28617094"/>
              <a:gd name="adj3" fmla="val 12758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ADF1698-D26F-4AED-9661-40DB6CD4FC04}"/>
              </a:ext>
            </a:extLst>
          </p:cNvPr>
          <p:cNvSpPr/>
          <p:nvPr/>
        </p:nvSpPr>
        <p:spPr>
          <a:xfrm>
            <a:off x="8940337" y="4946073"/>
            <a:ext cx="1978430" cy="827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데이터 적응</a:t>
            </a:r>
          </a:p>
        </p:txBody>
      </p:sp>
    </p:spTree>
    <p:extLst>
      <p:ext uri="{BB962C8B-B14F-4D97-AF65-F5344CB8AC3E}">
        <p14:creationId xmlns:p14="http://schemas.microsoft.com/office/powerpoint/2010/main" val="193983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The Road Always Taken: The Science of Traffic Congestion in Los Baños | Los  Baños Times">
            <a:extLst>
              <a:ext uri="{FF2B5EF4-FFF2-40B4-BE49-F238E27FC236}">
                <a16:creationId xmlns:a16="http://schemas.microsoft.com/office/drawing/2014/main" id="{FBF3725E-D555-4F29-93D4-F42A831CEA4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10" y="586992"/>
            <a:ext cx="2252056" cy="1227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인공 신경망(Artificial Neural Network) | Databricks">
            <a:extLst>
              <a:ext uri="{FF2B5EF4-FFF2-40B4-BE49-F238E27FC236}">
                <a16:creationId xmlns:a16="http://schemas.microsoft.com/office/drawing/2014/main" id="{539C5352-EA3A-4DEE-8B75-E8E6EB3A7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762" y="352865"/>
            <a:ext cx="2600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C7B531-3453-440C-8CD6-F8CFEA1DDBFE}"/>
              </a:ext>
            </a:extLst>
          </p:cNvPr>
          <p:cNvSpPr/>
          <p:nvPr/>
        </p:nvSpPr>
        <p:spPr>
          <a:xfrm>
            <a:off x="635924" y="2194560"/>
            <a:ext cx="1745673" cy="23691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교통류</a:t>
            </a:r>
            <a:r>
              <a:rPr lang="ko-KR" altLang="en-US" dirty="0"/>
              <a:t> 특성</a:t>
            </a:r>
            <a:r>
              <a:rPr lang="en-US" altLang="ko-KR" dirty="0"/>
              <a:t>(</a:t>
            </a:r>
            <a:r>
              <a:rPr lang="ko-KR" altLang="en-US" dirty="0"/>
              <a:t>변수</a:t>
            </a:r>
            <a:r>
              <a:rPr lang="en-US" altLang="ko-KR" dirty="0"/>
              <a:t>)</a:t>
            </a:r>
            <a:r>
              <a:rPr lang="ko-KR" altLang="en-US" dirty="0"/>
              <a:t> 추출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AE479B-082F-4D08-BED1-4A0BB59F99F5}"/>
              </a:ext>
            </a:extLst>
          </p:cNvPr>
          <p:cNvSpPr/>
          <p:nvPr/>
        </p:nvSpPr>
        <p:spPr>
          <a:xfrm>
            <a:off x="4660106" y="2404456"/>
            <a:ext cx="2071255" cy="20490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별개 </a:t>
            </a:r>
            <a:r>
              <a:rPr lang="en-US" altLang="ko-KR" dirty="0"/>
              <a:t>ANN</a:t>
            </a:r>
            <a:r>
              <a:rPr lang="ko-KR" altLang="en-US" dirty="0"/>
              <a:t>모델 학습 및 예측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CE7222-44E9-4CBE-87FF-104336FC1E5B}"/>
              </a:ext>
            </a:extLst>
          </p:cNvPr>
          <p:cNvSpPr/>
          <p:nvPr/>
        </p:nvSpPr>
        <p:spPr>
          <a:xfrm>
            <a:off x="9009870" y="2354579"/>
            <a:ext cx="2071255" cy="20490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가중치를 통한 데이터 적응 및 영향력 행사</a:t>
            </a:r>
          </a:p>
        </p:txBody>
      </p:sp>
      <p:pic>
        <p:nvPicPr>
          <p:cNvPr id="2056" name="Picture 8" descr="AI models: operation, training &amp; LLM capabilities">
            <a:extLst>
              <a:ext uri="{FF2B5EF4-FFF2-40B4-BE49-F238E27FC236}">
                <a16:creationId xmlns:a16="http://schemas.microsoft.com/office/drawing/2014/main" id="{0105BDD9-DFDB-487C-BABE-C1A0CB555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723" y="43382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337F52F-DFD8-4F3B-8761-B9198FAEF023}"/>
              </a:ext>
            </a:extLst>
          </p:cNvPr>
          <p:cNvSpPr/>
          <p:nvPr/>
        </p:nvSpPr>
        <p:spPr>
          <a:xfrm>
            <a:off x="2522913" y="5245331"/>
            <a:ext cx="6596149" cy="122737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r>
              <a:rPr lang="ko-KR" altLang="en-US" dirty="0"/>
              <a:t>가지 </a:t>
            </a:r>
            <a:r>
              <a:rPr lang="ko-KR" altLang="en-US" dirty="0" err="1"/>
              <a:t>하이퍼</a:t>
            </a:r>
            <a:r>
              <a:rPr lang="ko-KR" altLang="en-US" dirty="0"/>
              <a:t> 파라미터의 도출 과정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B2EDCD53-BE6B-45A8-BB28-696A27124311}"/>
              </a:ext>
            </a:extLst>
          </p:cNvPr>
          <p:cNvCxnSpPr>
            <a:cxnSpLocks/>
            <a:stCxn id="3" idx="0"/>
            <a:endCxn id="2" idx="2"/>
          </p:cNvCxnSpPr>
          <p:nvPr/>
        </p:nvCxnSpPr>
        <p:spPr>
          <a:xfrm rot="16200000" flipV="1">
            <a:off x="3324053" y="2748395"/>
            <a:ext cx="681644" cy="431222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7B1812C-0ACD-40C2-B660-3A69C0C67DC7}"/>
              </a:ext>
            </a:extLst>
          </p:cNvPr>
          <p:cNvCxnSpPr>
            <a:stCxn id="3" idx="0"/>
            <a:endCxn id="6" idx="2"/>
          </p:cNvCxnSpPr>
          <p:nvPr/>
        </p:nvCxnSpPr>
        <p:spPr>
          <a:xfrm rot="16200000" flipV="1">
            <a:off x="5362467" y="4786810"/>
            <a:ext cx="791788" cy="12525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28A92F04-02FB-45A6-BC8E-684C07BEFE76}"/>
              </a:ext>
            </a:extLst>
          </p:cNvPr>
          <p:cNvCxnSpPr>
            <a:stCxn id="3" idx="0"/>
            <a:endCxn id="8" idx="2"/>
          </p:cNvCxnSpPr>
          <p:nvPr/>
        </p:nvCxnSpPr>
        <p:spPr>
          <a:xfrm rot="5400000" flipH="1" flipV="1">
            <a:off x="7512411" y="2712244"/>
            <a:ext cx="841665" cy="422451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00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E0C7FE-3AB6-4FC8-8083-9F089067678F}"/>
              </a:ext>
            </a:extLst>
          </p:cNvPr>
          <p:cNvSpPr/>
          <p:nvPr/>
        </p:nvSpPr>
        <p:spPr>
          <a:xfrm>
            <a:off x="3778134" y="544484"/>
            <a:ext cx="3840480" cy="1151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현재 상태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3E09F4-9A09-40B5-9DFB-F2359EBA5D28}"/>
              </a:ext>
            </a:extLst>
          </p:cNvPr>
          <p:cNvSpPr/>
          <p:nvPr/>
        </p:nvSpPr>
        <p:spPr>
          <a:xfrm>
            <a:off x="793866" y="4274127"/>
            <a:ext cx="3291840" cy="12635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28C2ED-D747-43A0-A550-5AF235771FDF}"/>
              </a:ext>
            </a:extLst>
          </p:cNvPr>
          <p:cNvSpPr/>
          <p:nvPr/>
        </p:nvSpPr>
        <p:spPr>
          <a:xfrm>
            <a:off x="4612179" y="4240876"/>
            <a:ext cx="3291840" cy="12635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146F44-D881-4D5F-8320-D07333015F0B}"/>
              </a:ext>
            </a:extLst>
          </p:cNvPr>
          <p:cNvSpPr/>
          <p:nvPr/>
        </p:nvSpPr>
        <p:spPr>
          <a:xfrm>
            <a:off x="8621684" y="4274127"/>
            <a:ext cx="3291840" cy="12635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CE2D849-AE49-4A42-8D70-CD63B463F528}"/>
              </a:ext>
            </a:extLst>
          </p:cNvPr>
          <p:cNvSpPr/>
          <p:nvPr/>
        </p:nvSpPr>
        <p:spPr>
          <a:xfrm>
            <a:off x="2676698" y="2784764"/>
            <a:ext cx="943495" cy="569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15%</a:t>
            </a:r>
            <a:endParaRPr lang="ko-KR" alt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7BEE87-7C94-4F37-A822-299C79A020F1}"/>
              </a:ext>
            </a:extLst>
          </p:cNvPr>
          <p:cNvSpPr/>
          <p:nvPr/>
        </p:nvSpPr>
        <p:spPr>
          <a:xfrm>
            <a:off x="5748251" y="2851265"/>
            <a:ext cx="839586" cy="4821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3%</a:t>
            </a:r>
            <a:endParaRPr lang="ko-KR" alt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D017A8-2D16-410E-ADE8-5FA365B39638}"/>
              </a:ext>
            </a:extLst>
          </p:cNvPr>
          <p:cNvSpPr/>
          <p:nvPr/>
        </p:nvSpPr>
        <p:spPr>
          <a:xfrm>
            <a:off x="8965277" y="2851265"/>
            <a:ext cx="914400" cy="386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50%</a:t>
            </a:r>
            <a:endParaRPr lang="ko-KR" altLang="en-US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74F88531-9040-4BCF-9CF4-6ABC34C8F6EF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5400000">
            <a:off x="3878927" y="965316"/>
            <a:ext cx="1088967" cy="254992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8F0504B1-E399-4D58-A92E-86C1ED7D7753}"/>
              </a:ext>
            </a:extLst>
          </p:cNvPr>
          <p:cNvCxnSpPr>
            <a:stCxn id="2" idx="2"/>
            <a:endCxn id="7" idx="0"/>
          </p:cNvCxnSpPr>
          <p:nvPr/>
        </p:nvCxnSpPr>
        <p:spPr>
          <a:xfrm rot="16200000" flipH="1">
            <a:off x="5355475" y="2038696"/>
            <a:ext cx="1155468" cy="4696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D40AEC73-299C-4309-8B93-6C13458C71DC}"/>
              </a:ext>
            </a:extLst>
          </p:cNvPr>
          <p:cNvCxnSpPr>
            <a:stCxn id="2" idx="2"/>
            <a:endCxn id="8" idx="0"/>
          </p:cNvCxnSpPr>
          <p:nvPr/>
        </p:nvCxnSpPr>
        <p:spPr>
          <a:xfrm rot="16200000" flipH="1">
            <a:off x="6982691" y="411479"/>
            <a:ext cx="1155468" cy="372410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0DB2A2F-C63C-4D63-B9B3-D52DB0B90605}"/>
              </a:ext>
            </a:extLst>
          </p:cNvPr>
          <p:cNvCxnSpPr>
            <a:stCxn id="6" idx="4"/>
            <a:endCxn id="3" idx="0"/>
          </p:cNvCxnSpPr>
          <p:nvPr/>
        </p:nvCxnSpPr>
        <p:spPr>
          <a:xfrm flipH="1">
            <a:off x="2439786" y="3354185"/>
            <a:ext cx="708660" cy="919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537228-02C1-4031-9F31-12F510F7F651}"/>
              </a:ext>
            </a:extLst>
          </p:cNvPr>
          <p:cNvCxnSpPr>
            <a:stCxn id="7" idx="4"/>
            <a:endCxn id="4" idx="0"/>
          </p:cNvCxnSpPr>
          <p:nvPr/>
        </p:nvCxnSpPr>
        <p:spPr>
          <a:xfrm>
            <a:off x="6168044" y="3333403"/>
            <a:ext cx="90055" cy="907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A92839-9FF3-4392-B33E-62DB2DD3A90C}"/>
              </a:ext>
            </a:extLst>
          </p:cNvPr>
          <p:cNvCxnSpPr>
            <a:stCxn id="8" idx="4"/>
            <a:endCxn id="5" idx="0"/>
          </p:cNvCxnSpPr>
          <p:nvPr/>
        </p:nvCxnSpPr>
        <p:spPr>
          <a:xfrm>
            <a:off x="9422477" y="3237807"/>
            <a:ext cx="845127" cy="1036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행렬 - 위키백과, 우리 모두의 백과사전">
            <a:extLst>
              <a:ext uri="{FF2B5EF4-FFF2-40B4-BE49-F238E27FC236}">
                <a16:creationId xmlns:a16="http://schemas.microsoft.com/office/drawing/2014/main" id="{BD388457-94A0-48A3-AD70-B8DE2D2B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032" y="544484"/>
            <a:ext cx="27051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D06B4C-F232-4E90-A554-024E5DDFA627}"/>
              </a:ext>
            </a:extLst>
          </p:cNvPr>
          <p:cNvCxnSpPr>
            <a:stCxn id="6" idx="6"/>
            <a:endCxn id="3074" idx="1"/>
          </p:cNvCxnSpPr>
          <p:nvPr/>
        </p:nvCxnSpPr>
        <p:spPr>
          <a:xfrm flipV="1">
            <a:off x="3620193" y="1235047"/>
            <a:ext cx="5258839" cy="1834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037695-3DA2-4EE7-BA3D-E8626AF45788}"/>
              </a:ext>
            </a:extLst>
          </p:cNvPr>
          <p:cNvCxnSpPr>
            <a:cxnSpLocks/>
            <a:stCxn id="7" idx="6"/>
            <a:endCxn id="3074" idx="1"/>
          </p:cNvCxnSpPr>
          <p:nvPr/>
        </p:nvCxnSpPr>
        <p:spPr>
          <a:xfrm flipV="1">
            <a:off x="6587837" y="1235047"/>
            <a:ext cx="2291195" cy="1857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0EEB7E-79C4-4D9C-8198-369AC8481590}"/>
              </a:ext>
            </a:extLst>
          </p:cNvPr>
          <p:cNvCxnSpPr>
            <a:cxnSpLocks/>
            <a:stCxn id="8" idx="6"/>
            <a:endCxn id="3074" idx="1"/>
          </p:cNvCxnSpPr>
          <p:nvPr/>
        </p:nvCxnSpPr>
        <p:spPr>
          <a:xfrm flipH="1" flipV="1">
            <a:off x="8879032" y="1235047"/>
            <a:ext cx="1000645" cy="1809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844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FE8464B-6B06-404E-ABA4-84C4AD3D8347}"/>
              </a:ext>
            </a:extLst>
          </p:cNvPr>
          <p:cNvSpPr/>
          <p:nvPr/>
        </p:nvSpPr>
        <p:spPr>
          <a:xfrm>
            <a:off x="563880" y="4639887"/>
            <a:ext cx="2511829" cy="12635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A10DE1-29B2-4717-8D16-0BDF869F4429}"/>
              </a:ext>
            </a:extLst>
          </p:cNvPr>
          <p:cNvSpPr/>
          <p:nvPr/>
        </p:nvSpPr>
        <p:spPr>
          <a:xfrm>
            <a:off x="563880" y="2481349"/>
            <a:ext cx="2599113" cy="12635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9CAFF8-FEB7-4D81-97D4-56DD0C649F62}"/>
              </a:ext>
            </a:extLst>
          </p:cNvPr>
          <p:cNvSpPr/>
          <p:nvPr/>
        </p:nvSpPr>
        <p:spPr>
          <a:xfrm>
            <a:off x="520932" y="497378"/>
            <a:ext cx="2642061" cy="12635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9AFAAD-C947-4989-9CCA-CA2E23FFF223}"/>
              </a:ext>
            </a:extLst>
          </p:cNvPr>
          <p:cNvSpPr/>
          <p:nvPr/>
        </p:nvSpPr>
        <p:spPr>
          <a:xfrm>
            <a:off x="4251960" y="2013065"/>
            <a:ext cx="1637607" cy="5735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영향력</a:t>
            </a:r>
            <a:r>
              <a:rPr lang="en-US" altLang="ko-KR" dirty="0"/>
              <a:t>: 1</a:t>
            </a:r>
            <a:endParaRPr lang="ko-KR" alt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3892C1-2AA5-4F7E-8D65-D77C34ED450A}"/>
              </a:ext>
            </a:extLst>
          </p:cNvPr>
          <p:cNvSpPr/>
          <p:nvPr/>
        </p:nvSpPr>
        <p:spPr>
          <a:xfrm>
            <a:off x="4217323" y="2862349"/>
            <a:ext cx="1637607" cy="5735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영향력</a:t>
            </a:r>
            <a:r>
              <a:rPr lang="en-US" altLang="ko-KR" dirty="0"/>
              <a:t>: 6</a:t>
            </a:r>
            <a:endParaRPr lang="ko-KR" alt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F9D05A-7345-44D1-BCF0-70F2AD30C87B}"/>
              </a:ext>
            </a:extLst>
          </p:cNvPr>
          <p:cNvSpPr/>
          <p:nvPr/>
        </p:nvSpPr>
        <p:spPr>
          <a:xfrm>
            <a:off x="3988724" y="3773978"/>
            <a:ext cx="1993669" cy="5735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영향력</a:t>
            </a:r>
            <a:r>
              <a:rPr lang="en-US" altLang="ko-KR" dirty="0"/>
              <a:t>: 12</a:t>
            </a:r>
            <a:endParaRPr lang="ko-KR" alt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56EE9B-7132-44A5-8F8A-3BD0A5BB147A}"/>
              </a:ext>
            </a:extLst>
          </p:cNvPr>
          <p:cNvCxnSpPr>
            <a:stCxn id="4" idx="3"/>
            <a:endCxn id="5" idx="2"/>
          </p:cNvCxnSpPr>
          <p:nvPr/>
        </p:nvCxnSpPr>
        <p:spPr>
          <a:xfrm>
            <a:off x="3162993" y="1129145"/>
            <a:ext cx="1088967" cy="1170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76EDB9-C2D3-401C-BD47-75E48074E917}"/>
              </a:ext>
            </a:extLst>
          </p:cNvPr>
          <p:cNvCxnSpPr>
            <a:stCxn id="3" idx="3"/>
            <a:endCxn id="6" idx="2"/>
          </p:cNvCxnSpPr>
          <p:nvPr/>
        </p:nvCxnSpPr>
        <p:spPr>
          <a:xfrm>
            <a:off x="3162993" y="3113116"/>
            <a:ext cx="1054330" cy="36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189454-E785-4DCB-AA0E-83E337D232CD}"/>
              </a:ext>
            </a:extLst>
          </p:cNvPr>
          <p:cNvCxnSpPr>
            <a:stCxn id="2" idx="3"/>
            <a:endCxn id="7" idx="2"/>
          </p:cNvCxnSpPr>
          <p:nvPr/>
        </p:nvCxnSpPr>
        <p:spPr>
          <a:xfrm flipV="1">
            <a:off x="3075709" y="4060767"/>
            <a:ext cx="913015" cy="1210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행렬 - 위키백과, 우리 모두의 백과사전">
            <a:extLst>
              <a:ext uri="{FF2B5EF4-FFF2-40B4-BE49-F238E27FC236}">
                <a16:creationId xmlns:a16="http://schemas.microsoft.com/office/drawing/2014/main" id="{242B93F1-EA60-41F9-BB03-036964B75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92853"/>
            <a:ext cx="27051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63FC336C-97CB-4F0E-A9EA-699237994370}"/>
              </a:ext>
            </a:extLst>
          </p:cNvPr>
          <p:cNvSpPr/>
          <p:nvPr/>
        </p:nvSpPr>
        <p:spPr>
          <a:xfrm>
            <a:off x="9509760" y="2661197"/>
            <a:ext cx="2302625" cy="8444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output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59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986E75-78B1-473D-9DB5-B6D02EFE05AD}"/>
              </a:ext>
            </a:extLst>
          </p:cNvPr>
          <p:cNvSpPr/>
          <p:nvPr/>
        </p:nvSpPr>
        <p:spPr>
          <a:xfrm>
            <a:off x="599902" y="401782"/>
            <a:ext cx="2642061" cy="12635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A470E2-05FF-49DB-9042-CB1461E2F71B}"/>
              </a:ext>
            </a:extLst>
          </p:cNvPr>
          <p:cNvSpPr/>
          <p:nvPr/>
        </p:nvSpPr>
        <p:spPr>
          <a:xfrm>
            <a:off x="8483140" y="1381298"/>
            <a:ext cx="2642061" cy="12635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A58F99-5C42-42C7-89C4-6C7E5FF821A8}"/>
              </a:ext>
            </a:extLst>
          </p:cNvPr>
          <p:cNvSpPr/>
          <p:nvPr/>
        </p:nvSpPr>
        <p:spPr>
          <a:xfrm>
            <a:off x="853442" y="4512425"/>
            <a:ext cx="2642061" cy="12635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E712D-576F-4332-A57D-71513C76BA7B}"/>
              </a:ext>
            </a:extLst>
          </p:cNvPr>
          <p:cNvSpPr/>
          <p:nvPr/>
        </p:nvSpPr>
        <p:spPr>
          <a:xfrm>
            <a:off x="5083232" y="1184564"/>
            <a:ext cx="1101437" cy="644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상전이됨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11EBAD-5020-46B1-A537-6238028480B3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3241963" y="1033549"/>
            <a:ext cx="1841269" cy="473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3EBEBC-016F-48D8-8899-1E6AED49B086}"/>
              </a:ext>
            </a:extLst>
          </p:cNvPr>
          <p:cNvCxnSpPr>
            <a:stCxn id="5" idx="3"/>
            <a:endCxn id="3" idx="1"/>
          </p:cNvCxnSpPr>
          <p:nvPr/>
        </p:nvCxnSpPr>
        <p:spPr>
          <a:xfrm>
            <a:off x="6184669" y="1506682"/>
            <a:ext cx="2298471" cy="506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A4E8431-143B-4D96-B6C2-7E5CFAAB08DE}"/>
              </a:ext>
            </a:extLst>
          </p:cNvPr>
          <p:cNvSpPr/>
          <p:nvPr/>
        </p:nvSpPr>
        <p:spPr>
          <a:xfrm rot="793695">
            <a:off x="3572003" y="1959033"/>
            <a:ext cx="4164676" cy="739833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전이 영향력</a:t>
            </a:r>
            <a:r>
              <a:rPr lang="en-US" altLang="ko-KR" dirty="0"/>
              <a:t>: 5</a:t>
            </a:r>
            <a:endParaRPr lang="ko-KR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53C322-2989-4D3B-A7D2-4296836AB6A7}"/>
              </a:ext>
            </a:extLst>
          </p:cNvPr>
          <p:cNvSpPr/>
          <p:nvPr/>
        </p:nvSpPr>
        <p:spPr>
          <a:xfrm>
            <a:off x="6066905" y="3826626"/>
            <a:ext cx="1101437" cy="644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상전이됨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42A76B-AB15-4C98-9F5A-EF94032693BF}"/>
              </a:ext>
            </a:extLst>
          </p:cNvPr>
          <p:cNvCxnSpPr>
            <a:stCxn id="3" idx="2"/>
            <a:endCxn id="11" idx="3"/>
          </p:cNvCxnSpPr>
          <p:nvPr/>
        </p:nvCxnSpPr>
        <p:spPr>
          <a:xfrm flipH="1">
            <a:off x="7168342" y="2644832"/>
            <a:ext cx="2635829" cy="150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5D6783-639B-4857-8F28-661E7BBC3D4D}"/>
              </a:ext>
            </a:extLst>
          </p:cNvPr>
          <p:cNvCxnSpPr>
            <a:stCxn id="11" idx="1"/>
            <a:endCxn id="4" idx="3"/>
          </p:cNvCxnSpPr>
          <p:nvPr/>
        </p:nvCxnSpPr>
        <p:spPr>
          <a:xfrm flipH="1">
            <a:off x="3495503" y="4148744"/>
            <a:ext cx="2571402" cy="995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DB40C66-A422-4A93-8CA0-F3CF466BFB2C}"/>
              </a:ext>
            </a:extLst>
          </p:cNvPr>
          <p:cNvSpPr/>
          <p:nvPr/>
        </p:nvSpPr>
        <p:spPr>
          <a:xfrm rot="9240307">
            <a:off x="5251567" y="4410594"/>
            <a:ext cx="4164676" cy="739833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dirty="0"/>
              <a:t>전이 영향력</a:t>
            </a:r>
            <a:r>
              <a:rPr lang="en-US" altLang="ko-KR" dirty="0"/>
              <a:t>:45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8230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93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4</cp:revision>
  <dcterms:created xsi:type="dcterms:W3CDTF">2024-09-13T14:54:15Z</dcterms:created>
  <dcterms:modified xsi:type="dcterms:W3CDTF">2024-09-13T15:13:32Z</dcterms:modified>
</cp:coreProperties>
</file>